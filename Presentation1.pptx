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573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83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59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07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361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736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135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59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01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49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273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118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269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79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097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6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992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16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798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10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959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36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9724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88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446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2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992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C6C411B0-72AC-42BA-984B-4298CC721E4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936AAC44-478F-49E3-8333-879D92E85A8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9066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  <p:sldLayoutId id="2147483849" r:id="rId19"/>
    <p:sldLayoutId id="2147483850" r:id="rId20"/>
    <p:sldLayoutId id="2147483851" r:id="rId21"/>
    <p:sldLayoutId id="2147483852" r:id="rId22"/>
    <p:sldLayoutId id="2147483853" r:id="rId23"/>
    <p:sldLayoutId id="2147483854" r:id="rId24"/>
    <p:sldLayoutId id="2147483855" r:id="rId25"/>
    <p:sldLayoutId id="2147483856" r:id="rId26"/>
    <p:sldLayoutId id="214748385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9BED2BD-FF15-4444-BB7A-4DEE2606A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118108"/>
              </p:ext>
            </p:extLst>
          </p:nvPr>
        </p:nvGraphicFramePr>
        <p:xfrm>
          <a:off x="0" y="580103"/>
          <a:ext cx="12192000" cy="62778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90379215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444084305"/>
                    </a:ext>
                  </a:extLst>
                </a:gridCol>
              </a:tblGrid>
              <a:tr h="661836"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Metric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Value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13846958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Total companies tracked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28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2401687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Total confirmed jobs cut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85,146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1560201350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Total incl. Meta planned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101,146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2755176642"/>
                  </a:ext>
                </a:extLst>
              </a:tr>
              <a:tr h="526939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AI cited as reason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61% of all cuts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2469970134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Countries represented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4115050927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Stock went UP on layoff day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17 of 28 companies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1186547791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Average daily job losses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736 per day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2404436346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Largest single cut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Oracle — 30,000 jobs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3847392894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Fastest cut (% workforce)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Block — 40% of staff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3571080914"/>
                  </a:ext>
                </a:extLst>
              </a:tr>
              <a:tr h="56545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Data as of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March 18, 2026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17597" marR="117597" marT="117597" marB="117597" anchor="ctr"/>
                </a:tc>
                <a:extLst>
                  <a:ext uri="{0D108BD9-81ED-4DB2-BD59-A6C34878D82A}">
                    <a16:rowId xmlns:a16="http://schemas.microsoft.com/office/drawing/2014/main" val="124381969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26A5640-5664-32B6-0BA2-A35FFB0D2D02}"/>
              </a:ext>
            </a:extLst>
          </p:cNvPr>
          <p:cNvSpPr txBox="1"/>
          <p:nvPr/>
        </p:nvSpPr>
        <p:spPr>
          <a:xfrm>
            <a:off x="0" y="96520"/>
            <a:ext cx="3333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What The Numbers Show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1305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4D9C15-B877-9BF8-5D61-F88B8EA07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872228"/>
              </p:ext>
            </p:extLst>
          </p:nvPr>
        </p:nvGraphicFramePr>
        <p:xfrm>
          <a:off x="0" y="501444"/>
          <a:ext cx="12192000" cy="6356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89553021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982838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32889412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5510144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71604668"/>
                    </a:ext>
                  </a:extLst>
                </a:gridCol>
              </a:tblGrid>
              <a:tr h="609738"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Company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Jobs Cut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% Workforce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AI Cited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Date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338645950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Oracle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30,000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15%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Yes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Feb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509481056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Amazon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16,000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2.7%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No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Jan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2394510602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Meta (Planned)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16,000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20%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Yes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Mar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1318629250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Cisco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6,000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7%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No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Feb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879596625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Telefonica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5,000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5%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No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Jan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3860693970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WiseTech Global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2,000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25%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Yes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Feb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4040390359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Workday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2,200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8.5%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Yes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Jan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1276929795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Atlassian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1,600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10%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Yes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Mar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2329074422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Ericsson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1,600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12%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No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Jan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1540994355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Block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4,000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40%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Yes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Feb 2026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1898611433"/>
                  </a:ext>
                </a:extLst>
              </a:tr>
              <a:tr h="52243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Meta Reality Labs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1,500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10%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Yes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Jan 2026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07935" marR="107935" marT="107935" marB="107935" anchor="ctr"/>
                </a:tc>
                <a:extLst>
                  <a:ext uri="{0D108BD9-81ED-4DB2-BD59-A6C34878D82A}">
                    <a16:rowId xmlns:a16="http://schemas.microsoft.com/office/drawing/2014/main" val="6533659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F32C299-A48C-5B22-631B-DA8165782BDE}"/>
              </a:ext>
            </a:extLst>
          </p:cNvPr>
          <p:cNvSpPr txBox="1"/>
          <p:nvPr/>
        </p:nvSpPr>
        <p:spPr>
          <a:xfrm>
            <a:off x="35560" y="45721"/>
            <a:ext cx="3100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Key Layoffs by Company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3092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2E980-9D63-6ABA-7A3B-192A77942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96406"/>
              </p:ext>
            </p:extLst>
          </p:nvPr>
        </p:nvGraphicFramePr>
        <p:xfrm>
          <a:off x="0" y="491612"/>
          <a:ext cx="12192000" cy="101353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72001526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111120970"/>
                    </a:ext>
                  </a:extLst>
                </a:gridCol>
              </a:tblGrid>
              <a:tr h="274250"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b="1" dirty="0"/>
                        <a:t>Column</a:t>
                      </a: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1800" b="1" dirty="0">
                          <a:effectLst/>
                        </a:rPr>
                        <a:t>Description</a:t>
                      </a:r>
                      <a:endParaRPr lang="en-IN" sz="18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1178911061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company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Company name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2512442662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layoff_date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Date layoffs were announced or effective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4143589076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 err="1">
                          <a:effectLst/>
                        </a:rPr>
                        <a:t>jobs_cut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Number of positions eliminated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970019781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pct_workforce_cut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Percentage of total workforce eliminated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676873432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sector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Industry sector of the company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1237635503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country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Country of company headquarters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2946892672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hq_city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Headquarters city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063745573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ai_cited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True if AI was explicitly cited as reason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889905596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reason_stated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Official reason given by company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139018935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company_revenue_2025_bn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Company revenue in 2025 (USD billions)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2362458414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pre_layoff_headcount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Total employees before layoff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168887670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stock_change_day_pct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Stock price % change on announcement day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1957496784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simultaneous_ai_investment_bn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Company AI capex spend in 2026 (USD bn)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4106232335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roles_most_affected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Job roles eliminated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103401234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replacement_roles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New roles being hired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2855561126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ceo_quote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Direct CEO quote about the layoff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197419102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layoffs_2024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Number of layoffs at the same company in 2024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826040780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layoffs_2025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Number of layoffs at the same company in 2025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2029117366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verified_source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News source used to verify each event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089379427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month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Month of layoff announcement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4269250832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quarter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Quarter of layoff announcement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1091694090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region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World region of headquarters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816023678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 err="1">
                          <a:effectLst/>
                        </a:rPr>
                        <a:t>layoff_size_category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Small / Medium / Large / Mega classification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180093964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stock_reaction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Positive / Negative / Neutral on announcement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2656431028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laid_off_vs_headcount_pct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Verified % of workforce eliminated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2476131345"/>
                  </a:ext>
                </a:extLst>
              </a:tr>
              <a:tr h="234313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>
                          <a:effectLst/>
                        </a:rPr>
                        <a:t>data_as_of</a:t>
                      </a:r>
                      <a:endParaRPr lang="en-IN" sz="18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1800" dirty="0">
                          <a:effectLst/>
                        </a:rPr>
                        <a:t>Date this dataset was last updated</a:t>
                      </a:r>
                      <a:endParaRPr lang="en-IN" sz="18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48347" marR="48347" marT="48347" marB="48347" anchor="ctr"/>
                </a:tc>
                <a:extLst>
                  <a:ext uri="{0D108BD9-81ED-4DB2-BD59-A6C34878D82A}">
                    <a16:rowId xmlns:a16="http://schemas.microsoft.com/office/drawing/2014/main" val="32528744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DC60FD9-5BBA-2E12-A2D8-13541F8C063B}"/>
              </a:ext>
            </a:extLst>
          </p:cNvPr>
          <p:cNvSpPr txBox="1"/>
          <p:nvPr/>
        </p:nvSpPr>
        <p:spPr>
          <a:xfrm>
            <a:off x="0" y="52174"/>
            <a:ext cx="261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Column Descriptions</a:t>
            </a:r>
            <a:endParaRPr lang="en-IN" sz="2000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684038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72928C-5D1A-CB14-69A9-304DC4DFC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70832"/>
              </p:ext>
            </p:extLst>
          </p:nvPr>
        </p:nvGraphicFramePr>
        <p:xfrm>
          <a:off x="0" y="481780"/>
          <a:ext cx="12192000" cy="63762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41424332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254214619"/>
                    </a:ext>
                  </a:extLst>
                </a:gridCol>
              </a:tblGrid>
              <a:tr h="813809"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2000" b="1" dirty="0">
                          <a:effectLst/>
                        </a:rPr>
                        <a:t>Sector</a:t>
                      </a:r>
                      <a:endParaRPr lang="en-IN" sz="20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2000" b="1" dirty="0">
                          <a:effectLst/>
                        </a:rPr>
                        <a:t>Jobs Cut 2026</a:t>
                      </a:r>
                      <a:endParaRPr lang="en-IN" sz="20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96608151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Enterprise Software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31,600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2976682380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 dirty="0">
                          <a:effectLst/>
                        </a:rPr>
                        <a:t>Social Media / AI</a:t>
                      </a:r>
                      <a:endParaRPr lang="en-IN" sz="20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17,500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3962632402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E-Commerce / Cloud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16,000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2548968553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 dirty="0">
                          <a:effectLst/>
                        </a:rPr>
                        <a:t>Telecommunications</a:t>
                      </a:r>
                      <a:endParaRPr lang="en-IN" sz="20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6,963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1824964486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Networking / Cybersecurity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6,000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3806282675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Fintech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4,000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4206385333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Semiconductors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3,700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2995522058"/>
                  </a:ext>
                </a:extLst>
              </a:tr>
              <a:tr h="695301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Enterprise SaaS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 dirty="0">
                          <a:effectLst/>
                        </a:rPr>
                        <a:t>2,200</a:t>
                      </a:r>
                      <a:endParaRPr lang="en-IN" sz="20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12556122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BF518B6-A178-56F4-0C5F-D29225616367}"/>
              </a:ext>
            </a:extLst>
          </p:cNvPr>
          <p:cNvSpPr txBox="1"/>
          <p:nvPr/>
        </p:nvSpPr>
        <p:spPr>
          <a:xfrm>
            <a:off x="0" y="58992"/>
            <a:ext cx="853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Sector Breakdown</a:t>
            </a:r>
            <a:endParaRPr lang="en-IN" sz="2000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07483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E1C14B-5A3A-8C2D-B0A5-BA673958CF7E}"/>
              </a:ext>
            </a:extLst>
          </p:cNvPr>
          <p:cNvSpPr txBox="1"/>
          <p:nvPr/>
        </p:nvSpPr>
        <p:spPr>
          <a:xfrm>
            <a:off x="-1" y="0"/>
            <a:ext cx="100190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Suggested Analysis Tasks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Classify whether a layoff will cause a stock price increase or decrease on announcement day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Predict the percentage of workforce cut based on sector, revenue and AI investment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Cluster companies by their layoff behaviour</a:t>
            </a:r>
            <a:r>
              <a:rPr lang="en-IN" dirty="0"/>
              <a:t> 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and AI spending patterns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Time series analysis of layoff frequency across January to March 2026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Compare AI-cited vs non-AI-cited layoffs by size, sector and stock reaction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Build a risk model — which sectors are most vulnerable to AI-driven cuts next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Visualize the paradox: jobs cut vs AI spend for each company simultaneously</a:t>
            </a:r>
            <a:endParaRPr lang="en-IN" b="0" i="0" dirty="0">
              <a:solidFill>
                <a:srgbClr val="3C4043"/>
              </a:solidFill>
              <a:effectLst/>
              <a:latin typeface="inheri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0F887-6115-67AF-477E-6F4DAE9AD111}"/>
              </a:ext>
            </a:extLst>
          </p:cNvPr>
          <p:cNvSpPr txBox="1"/>
          <p:nvPr/>
        </p:nvSpPr>
        <p:spPr>
          <a:xfrm>
            <a:off x="-1" y="3441681"/>
            <a:ext cx="101813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Questions to Explore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Do companies that cite AI as a reason see a bigger stock price jump than those that don't?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Which sector has the highest AI-cited layoff rate?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Is there a correlation between company revenue and the size of layoffs?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Which country has been hit hardest by tech layoffs in 2026?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Do companies that cut the most replace workers with the most AI investment?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What percentage of laid-off roles have AI replacement roles announced?</a:t>
            </a:r>
          </a:p>
          <a:p>
            <a:pPr marL="342900" marR="0" lvl="0" indent="-34290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Are layoffs getting larger or smaller as 2026 progresses?</a:t>
            </a:r>
            <a:endParaRPr lang="en-IN" b="0" i="0" dirty="0">
              <a:solidFill>
                <a:srgbClr val="3C4043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59033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C57C30-5823-A9CE-3C89-B654A0E22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439900"/>
              </p:ext>
            </p:extLst>
          </p:nvPr>
        </p:nvGraphicFramePr>
        <p:xfrm>
          <a:off x="0" y="648929"/>
          <a:ext cx="12192000" cy="6209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36703338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814674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012503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24868355"/>
                    </a:ext>
                  </a:extLst>
                </a:gridCol>
              </a:tblGrid>
              <a:tr h="1742586"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Year</a:t>
                      </a:r>
                      <a:endParaRPr lang="en-IN" sz="2000" b="1" i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2000" dirty="0">
                          <a:effectLst/>
                        </a:rPr>
                        <a:t>Total Layoffs</a:t>
                      </a:r>
                      <a:endParaRPr lang="en-IN" sz="2000" b="1" i="0" dirty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Companies</a:t>
                      </a:r>
                      <a:endParaRPr lang="en-IN" sz="2000" b="1" i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lnSpc>
                          <a:spcPct val="142857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Daily Average</a:t>
                      </a:r>
                      <a:endParaRPr lang="en-IN" sz="2000" b="1" i="0">
                        <a:solidFill>
                          <a:srgbClr val="3C4043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246135721"/>
                  </a:ext>
                </a:extLst>
              </a:tr>
              <a:tr h="148882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2024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~150,000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542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~410/day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3422105316"/>
                  </a:ext>
                </a:extLst>
              </a:tr>
              <a:tr h="148882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2025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245,953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783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~674/day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2681139499"/>
                  </a:ext>
                </a:extLst>
              </a:tr>
              <a:tr h="1488828"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2026 YTD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55,911+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>
                          <a:effectLst/>
                        </a:rPr>
                        <a:t>171+</a:t>
                      </a:r>
                      <a:endParaRPr lang="en-IN" sz="2000" b="0" i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tc>
                  <a:txBody>
                    <a:bodyPr/>
                    <a:lstStyle/>
                    <a:p>
                      <a:pPr marL="0" marR="0" algn="l" fontAlgn="ctr" latinLnBrk="0">
                        <a:buNone/>
                      </a:pPr>
                      <a:r>
                        <a:rPr lang="en-IN" sz="2000" dirty="0">
                          <a:effectLst/>
                        </a:rPr>
                        <a:t>736/day</a:t>
                      </a:r>
                      <a:endParaRPr lang="en-IN" sz="2000" b="0" i="0" dirty="0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121920" marR="121920" marT="121920" marB="121920" anchor="ctr"/>
                </a:tc>
                <a:extLst>
                  <a:ext uri="{0D108BD9-81ED-4DB2-BD59-A6C34878D82A}">
                    <a16:rowId xmlns:a16="http://schemas.microsoft.com/office/drawing/2014/main" val="402612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329B0E7-FCF5-202B-DC5B-0ED5A04FB7FB}"/>
              </a:ext>
            </a:extLst>
          </p:cNvPr>
          <p:cNvSpPr txBox="1"/>
          <p:nvPr/>
        </p:nvSpPr>
        <p:spPr>
          <a:xfrm>
            <a:off x="1" y="88489"/>
            <a:ext cx="35789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IN" sz="2000" b="1" i="0" dirty="0">
                <a:solidFill>
                  <a:schemeClr val="tx1"/>
                </a:solidFill>
                <a:effectLst/>
                <a:latin typeface="+mn-lt"/>
              </a:rPr>
              <a:t>2026 vs 2025 vs 2024 Context</a:t>
            </a:r>
            <a:endParaRPr lang="en-IN" sz="2000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64515839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631</TotalTime>
  <Words>664</Words>
  <Application>Microsoft Office PowerPoint</Application>
  <PresentationFormat>Widescreen</PresentationFormat>
  <Paragraphs>191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Haettenschweiler</vt:lpstr>
      <vt:lpstr>inherit</vt:lpstr>
      <vt:lpstr>Inter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Singh</dc:creator>
  <cp:lastModifiedBy>Arjun Singh</cp:lastModifiedBy>
  <cp:revision>1</cp:revision>
  <dcterms:created xsi:type="dcterms:W3CDTF">2026-09-23T08:15:25Z</dcterms:created>
  <dcterms:modified xsi:type="dcterms:W3CDTF">2026-09-23T18:46:33Z</dcterms:modified>
</cp:coreProperties>
</file>